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0D51337A-31FA-4717-B2BF-9243F96D2B9B}">
      <dgm:prSet phldrT="[Text]"/>
      <dgm:spPr/>
      <dgm:t>
        <a:bodyPr rtlCol="0"/>
        <a:lstStyle/>
        <a:p>
          <a:pPr rtl="0"/>
          <a:r>
            <a:rPr lang="es-E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¿Cuál es el problema?</a:t>
          </a:r>
        </a:p>
      </dgm:t>
    </dgm:pt>
    <dgm:pt modelId="{A9294D65-F371-46C8-A624-E557E9DF1A30}" type="parTrans" cxnId="{9E6BB655-7FE4-4F8D-B1D2-F885E60B8754}">
      <dgm:prSet/>
      <dgm:spPr/>
      <dgm:t>
        <a:bodyPr rtlCol="0"/>
        <a:lstStyle/>
        <a:p>
          <a:pPr rtl="0"/>
          <a:endParaRPr lang="es-ES" noProof="0" dirty="0"/>
        </a:p>
      </dgm:t>
    </dgm:pt>
    <dgm:pt modelId="{6799645E-F42F-43D8-B2EA-A1377D84D0B3}" type="sibTrans" cxnId="{9E6BB655-7FE4-4F8D-B1D2-F885E60B8754}">
      <dgm:prSet/>
      <dgm:spPr/>
      <dgm:t>
        <a:bodyPr rtlCol="0"/>
        <a:lstStyle/>
        <a:p>
          <a:pPr rtl="0"/>
          <a:endParaRPr lang="es-ES" noProof="0" dirty="0"/>
        </a:p>
      </dgm:t>
    </dgm:pt>
    <dgm:pt modelId="{E40970FA-9468-4353-8343-FE5E2BEBB8B0}">
      <dgm:prSet phldrT="[Text]" custT="1"/>
      <dgm:spPr/>
      <dgm:t>
        <a:bodyPr/>
        <a:lstStyle/>
        <a:p>
          <a:pPr>
            <a:buNone/>
          </a:pPr>
          <a:r>
            <a:rPr lang="es-CL" sz="2400" dirty="0"/>
            <a:t>¿Los estudiantes universitarios duermen menos de 7 horas recomendadas?</a:t>
          </a:r>
          <a:endParaRPr lang="es-ES" sz="2400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FA6A33-9FA9-4134-A6A3-A5D4748A1779}" type="parTrans" cxnId="{A316347C-9D1A-43C6-BE2B-DC184440E1C9}">
      <dgm:prSet/>
      <dgm:spPr/>
      <dgm:t>
        <a:bodyPr rtlCol="0"/>
        <a:lstStyle/>
        <a:p>
          <a:pPr rtl="0"/>
          <a:endParaRPr lang="es-ES" noProof="0" dirty="0"/>
        </a:p>
      </dgm:t>
    </dgm:pt>
    <dgm:pt modelId="{04FF68DF-CF36-4D12-9ECE-A3519B0AC88A}" type="sibTrans" cxnId="{A316347C-9D1A-43C6-BE2B-DC184440E1C9}">
      <dgm:prSet/>
      <dgm:spPr/>
      <dgm:t>
        <a:bodyPr rtlCol="0"/>
        <a:lstStyle/>
        <a:p>
          <a:pPr rtl="0"/>
          <a:endParaRPr lang="es-ES" noProof="0" dirty="0"/>
        </a:p>
      </dgm:t>
    </dgm:pt>
    <dgm:pt modelId="{A7F7584C-6CC5-40A2-9566-2842A5DEA97A}">
      <dgm:prSet phldrT="[Text]"/>
      <dgm:spPr/>
      <dgm:t>
        <a:bodyPr rtlCol="0"/>
        <a:lstStyle/>
        <a:p>
          <a:pPr rtl="0"/>
          <a:r>
            <a:rPr lang="es-E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Importancia </a:t>
          </a:r>
        </a:p>
      </dgm:t>
    </dgm:pt>
    <dgm:pt modelId="{581272CD-5908-4C17-8E9B-8BF6DCE43C3E}" type="parTrans" cxnId="{F68422C1-CD34-4DED-AA4B-85EFFF4FE933}">
      <dgm:prSet/>
      <dgm:spPr/>
      <dgm:t>
        <a:bodyPr rtlCol="0"/>
        <a:lstStyle/>
        <a:p>
          <a:pPr rtl="0"/>
          <a:endParaRPr lang="es-ES" noProof="0" dirty="0"/>
        </a:p>
      </dgm:t>
    </dgm:pt>
    <dgm:pt modelId="{C41ED6A4-512C-48AB-901D-671B73446005}" type="sibTrans" cxnId="{F68422C1-CD34-4DED-AA4B-85EFFF4FE933}">
      <dgm:prSet/>
      <dgm:spPr/>
      <dgm:t>
        <a:bodyPr rtlCol="0"/>
        <a:lstStyle/>
        <a:p>
          <a:pPr rtl="0"/>
          <a:endParaRPr lang="es-ES" noProof="0" dirty="0"/>
        </a:p>
      </dgm:t>
    </dgm:pt>
    <dgm:pt modelId="{9D8DAFB6-C744-4BD6-B757-393BF647EBB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sz="2400" dirty="0"/>
            <a:t>Impacto en salud física</a:t>
          </a:r>
          <a:endParaRPr lang="es-ES" sz="2400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9B44773-68B1-427B-B9CA-0AEA186B621E}" type="sibTrans" cxnId="{56052809-46E4-4445-B520-94004C28BB9D}">
      <dgm:prSet/>
      <dgm:spPr/>
      <dgm:t>
        <a:bodyPr rtlCol="0"/>
        <a:lstStyle/>
        <a:p>
          <a:pPr rtl="0"/>
          <a:endParaRPr lang="es-ES" noProof="0" dirty="0"/>
        </a:p>
      </dgm:t>
    </dgm:pt>
    <dgm:pt modelId="{17C1C47E-8D1A-404A-B227-B017391CB5F6}" type="parTrans" cxnId="{56052809-46E4-4445-B520-94004C28BB9D}">
      <dgm:prSet/>
      <dgm:spPr/>
      <dgm:t>
        <a:bodyPr rtlCol="0"/>
        <a:lstStyle/>
        <a:p>
          <a:pPr rtl="0"/>
          <a:endParaRPr lang="es-ES" noProof="0" dirty="0"/>
        </a:p>
      </dgm:t>
    </dgm:pt>
    <dgm:pt modelId="{571A30F2-4E5B-4798-BBE3-9C4DE58C0ED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sz="2400" dirty="0"/>
            <a:t>Rendimiento académico</a:t>
          </a:r>
        </a:p>
      </dgm:t>
    </dgm:pt>
    <dgm:pt modelId="{E24A7472-A138-4657-90DC-F5EDD0F01931}" type="parTrans" cxnId="{4FF3B7CC-596E-45A1-BABE-4F469317F996}">
      <dgm:prSet/>
      <dgm:spPr/>
      <dgm:t>
        <a:bodyPr/>
        <a:lstStyle/>
        <a:p>
          <a:endParaRPr lang="es-CL"/>
        </a:p>
      </dgm:t>
    </dgm:pt>
    <dgm:pt modelId="{03968EBE-22FA-454D-96DF-12196A73C841}" type="sibTrans" cxnId="{4FF3B7CC-596E-45A1-BABE-4F469317F996}">
      <dgm:prSet/>
      <dgm:spPr/>
      <dgm:t>
        <a:bodyPr/>
        <a:lstStyle/>
        <a:p>
          <a:endParaRPr lang="es-CL"/>
        </a:p>
      </dgm:t>
    </dgm:pt>
    <dgm:pt modelId="{9DC24B01-17B7-497A-915C-E4DA19742BF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sz="2400" dirty="0"/>
            <a:t>Bienestar psicológico</a:t>
          </a:r>
        </a:p>
      </dgm:t>
    </dgm:pt>
    <dgm:pt modelId="{FA3D9052-74D5-4BD9-911C-81ECF880747C}" type="parTrans" cxnId="{B93FCB5E-EF03-47CB-ABFC-8B12D767B8CD}">
      <dgm:prSet/>
      <dgm:spPr/>
      <dgm:t>
        <a:bodyPr/>
        <a:lstStyle/>
        <a:p>
          <a:endParaRPr lang="es-CL"/>
        </a:p>
      </dgm:t>
    </dgm:pt>
    <dgm:pt modelId="{F77B52E6-EB46-42CD-A97A-09E0F87CF95D}" type="sibTrans" cxnId="{B93FCB5E-EF03-47CB-ABFC-8B12D767B8CD}">
      <dgm:prSet/>
      <dgm:spPr/>
      <dgm:t>
        <a:bodyPr/>
        <a:lstStyle/>
        <a:p>
          <a:endParaRPr lang="es-CL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FB9694A-6C63-4B23-90F6-4F208C00D399}" type="pres">
      <dgm:prSet presAssocID="{0D51337A-31FA-4717-B2BF-9243F96D2B9B}" presName="descendantText" presStyleLbl="alignAccFollowNode1" presStyleIdx="0" presStyleCnt="2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1" presStyleCnt="2" custLinFactNeighborX="0" custLinFactNeighborY="1225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B93FCB5E-EF03-47CB-ABFC-8B12D767B8CD}" srcId="{A7F7584C-6CC5-40A2-9566-2842A5DEA97A}" destId="{9DC24B01-17B7-497A-915C-E4DA19742BF2}" srcOrd="2" destOrd="0" parTransId="{FA3D9052-74D5-4BD9-911C-81ECF880747C}" sibTransId="{F77B52E6-EB46-42CD-A97A-09E0F87CF95D}"/>
    <dgm:cxn modelId="{EE872B47-E182-410D-BA4B-2394C6726861}" type="presOf" srcId="{571A30F2-4E5B-4798-BBE3-9C4DE58C0ED3}" destId="{329ECF1A-78BE-41CB-B252-8011825B67CD}" srcOrd="0" destOrd="1" presId="urn:microsoft.com/office/officeart/2005/8/layout/vList5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D55D07C5-67FA-4E41-BFB0-A6D09029E9BE}" type="presOf" srcId="{9DC24B01-17B7-497A-915C-E4DA19742BF2}" destId="{329ECF1A-78BE-41CB-B252-8011825B67CD}" srcOrd="0" destOrd="2" presId="urn:microsoft.com/office/officeart/2005/8/layout/vList5"/>
    <dgm:cxn modelId="{4FF3B7CC-596E-45A1-BABE-4F469317F996}" srcId="{A7F7584C-6CC5-40A2-9566-2842A5DEA97A}" destId="{571A30F2-4E5B-4798-BBE3-9C4DE58C0ED3}" srcOrd="1" destOrd="0" parTransId="{E24A7472-A138-4657-90DC-F5EDD0F01931}" sibTransId="{03968EBE-22FA-454D-96DF-12196A73C841}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ABA77F75-8642-4931-8D7E-BE6C6DB9940D}">
      <dgm:prSet phldrT="[Text]"/>
      <dgm:spPr/>
      <dgm:t>
        <a:bodyPr rtlCol="0"/>
        <a:lstStyle/>
        <a:p>
          <a:pPr rtl="0"/>
          <a:r>
            <a:rPr lang="es-E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Metodología</a:t>
          </a:r>
        </a:p>
      </dgm:t>
    </dgm:pt>
    <dgm:pt modelId="{FCF9AE1B-B22B-4F91-BFD8-DDBBF762F128}" type="parTrans" cxnId="{D959B3EA-A66A-4B40-901C-93ECD4985A93}">
      <dgm:prSet/>
      <dgm:spPr/>
      <dgm:t>
        <a:bodyPr rtlCol="0"/>
        <a:lstStyle/>
        <a:p>
          <a:pPr rtl="0"/>
          <a:endParaRPr lang="es-ES" noProof="0" dirty="0"/>
        </a:p>
      </dgm:t>
    </dgm:pt>
    <dgm:pt modelId="{1A095211-ADB0-42CA-9F24-F1BC942872F3}" type="sibTrans" cxnId="{D959B3EA-A66A-4B40-901C-93ECD4985A93}">
      <dgm:prSet/>
      <dgm:spPr/>
      <dgm:t>
        <a:bodyPr rtlCol="0"/>
        <a:lstStyle/>
        <a:p>
          <a:pPr rtl="0"/>
          <a:endParaRPr lang="es-ES" noProof="0" dirty="0"/>
        </a:p>
      </dgm:t>
    </dgm:pt>
    <dgm:pt modelId="{611C3B18-07F8-4A66-9682-97E24AEF60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dirty="0"/>
            <a:t>Enfoque: Cuantitativo</a:t>
          </a:r>
          <a:endParaRPr lang="es-ES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940BF2D-F08A-4150-9A86-173D9242DE8C}" type="parTrans" cxnId="{D5D61B4C-1312-427C-BDCC-013237D8A488}">
      <dgm:prSet/>
      <dgm:spPr/>
      <dgm:t>
        <a:bodyPr rtlCol="0"/>
        <a:lstStyle/>
        <a:p>
          <a:pPr rtl="0"/>
          <a:endParaRPr lang="es-ES" noProof="0" dirty="0"/>
        </a:p>
      </dgm:t>
    </dgm:pt>
    <dgm:pt modelId="{477660C6-2B6D-4FB8-B9A3-D555E2082C2A}" type="sibTrans" cxnId="{D5D61B4C-1312-427C-BDCC-013237D8A488}">
      <dgm:prSet/>
      <dgm:spPr/>
      <dgm:t>
        <a:bodyPr rtlCol="0"/>
        <a:lstStyle/>
        <a:p>
          <a:pPr rtl="0"/>
          <a:endParaRPr lang="es-ES" noProof="0" dirty="0"/>
        </a:p>
      </dgm:t>
    </dgm:pt>
    <dgm:pt modelId="{6EE89B4E-BAED-4A90-B29D-70AF11256801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es-E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variables</a:t>
          </a:r>
        </a:p>
      </dgm:t>
    </dgm:pt>
    <dgm:pt modelId="{39BF20C7-31E5-452B-8EA2-17224A13C7FB}" type="parTrans" cxnId="{CA949A5F-9945-4C59-A233-D70AFFF70BDA}">
      <dgm:prSet/>
      <dgm:spPr/>
      <dgm:t>
        <a:bodyPr rtlCol="0"/>
        <a:lstStyle/>
        <a:p>
          <a:pPr rtl="0"/>
          <a:endParaRPr lang="es-ES" noProof="0" dirty="0"/>
        </a:p>
      </dgm:t>
    </dgm:pt>
    <dgm:pt modelId="{E71503C3-CFB7-4144-AD9F-7A42A87A3A6B}" type="sibTrans" cxnId="{CA949A5F-9945-4C59-A233-D70AFFF70BDA}">
      <dgm:prSet/>
      <dgm:spPr/>
      <dgm:t>
        <a:bodyPr rtlCol="0"/>
        <a:lstStyle/>
        <a:p>
          <a:pPr rtl="0"/>
          <a:endParaRPr lang="es-ES" noProof="0" dirty="0"/>
        </a:p>
      </dgm:t>
    </dgm:pt>
    <dgm:pt modelId="{4E09554C-A0A9-4473-B51A-ABC0BF09F7C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dirty="0"/>
            <a:t>n = 120 estudiantes</a:t>
          </a:r>
        </a:p>
      </dgm:t>
    </dgm:pt>
    <dgm:pt modelId="{DC61C644-5419-4908-BC51-5EE0701AAF10}" type="parTrans" cxnId="{BBECE3DD-711A-4B10-9979-97A7283CDADB}">
      <dgm:prSet/>
      <dgm:spPr/>
      <dgm:t>
        <a:bodyPr/>
        <a:lstStyle/>
        <a:p>
          <a:endParaRPr lang="es-CL"/>
        </a:p>
      </dgm:t>
    </dgm:pt>
    <dgm:pt modelId="{84A4C9B6-B647-45E6-B90F-33C97896F9B4}" type="sibTrans" cxnId="{BBECE3DD-711A-4B10-9979-97A7283CDADB}">
      <dgm:prSet/>
      <dgm:spPr/>
      <dgm:t>
        <a:bodyPr/>
        <a:lstStyle/>
        <a:p>
          <a:endParaRPr lang="es-CL"/>
        </a:p>
      </dgm:t>
    </dgm:pt>
    <dgm:pt modelId="{424477B2-0ECF-4360-B5B5-6C911EC03F4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dirty="0"/>
            <a:t>Muestreo: Aleatorio simple</a:t>
          </a:r>
          <a:endParaRPr lang="es-ES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1A8EA1E-CF76-4472-ADA4-C2228667CA39}" type="parTrans" cxnId="{FA529BE3-C734-4E60-9483-30E35591468D}">
      <dgm:prSet/>
      <dgm:spPr/>
      <dgm:t>
        <a:bodyPr/>
        <a:lstStyle/>
        <a:p>
          <a:endParaRPr lang="es-CL"/>
        </a:p>
      </dgm:t>
    </dgm:pt>
    <dgm:pt modelId="{89BB91B1-1035-4049-90CD-C37F6608CF1F}" type="sibTrans" cxnId="{FA529BE3-C734-4E60-9483-30E35591468D}">
      <dgm:prSet/>
      <dgm:spPr/>
      <dgm:t>
        <a:bodyPr/>
        <a:lstStyle/>
        <a:p>
          <a:endParaRPr lang="es-CL"/>
        </a:p>
      </dgm:t>
    </dgm:pt>
    <dgm:pt modelId="{92ACADFB-9935-4387-90F4-BB624D0B4A7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dirty="0"/>
            <a:t>Horas de sueño</a:t>
          </a:r>
        </a:p>
      </dgm:t>
    </dgm:pt>
    <dgm:pt modelId="{66AADECE-F67D-4685-9343-80ECF871FDAE}" type="parTrans" cxnId="{8DB8997D-3BE2-4646-A982-68ECBE18110D}">
      <dgm:prSet/>
      <dgm:spPr/>
      <dgm:t>
        <a:bodyPr/>
        <a:lstStyle/>
        <a:p>
          <a:endParaRPr lang="es-CL"/>
        </a:p>
      </dgm:t>
    </dgm:pt>
    <dgm:pt modelId="{547F632C-40A9-4FF4-AEB5-D0A14057BC8E}" type="sibTrans" cxnId="{8DB8997D-3BE2-4646-A982-68ECBE18110D}">
      <dgm:prSet/>
      <dgm:spPr/>
      <dgm:t>
        <a:bodyPr/>
        <a:lstStyle/>
        <a:p>
          <a:endParaRPr lang="es-CL"/>
        </a:p>
      </dgm:t>
    </dgm:pt>
    <dgm:pt modelId="{D6B2851C-10BC-4917-BBFC-2C8DBAB867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dirty="0"/>
            <a:t>Actividad física</a:t>
          </a:r>
        </a:p>
      </dgm:t>
    </dgm:pt>
    <dgm:pt modelId="{8B7F068D-18BF-4E26-9B65-4E6E914436A7}" type="parTrans" cxnId="{5A0F5406-B9C1-4115-966A-CF2017B5046E}">
      <dgm:prSet/>
      <dgm:spPr/>
      <dgm:t>
        <a:bodyPr/>
        <a:lstStyle/>
        <a:p>
          <a:endParaRPr lang="es-CL"/>
        </a:p>
      </dgm:t>
    </dgm:pt>
    <dgm:pt modelId="{36964D3E-CDED-454D-8624-C3B6C5518315}" type="sibTrans" cxnId="{5A0F5406-B9C1-4115-966A-CF2017B5046E}">
      <dgm:prSet/>
      <dgm:spPr/>
      <dgm:t>
        <a:bodyPr/>
        <a:lstStyle/>
        <a:p>
          <a:endParaRPr lang="es-CL"/>
        </a:p>
      </dgm:t>
    </dgm:pt>
    <dgm:pt modelId="{5323E3A0-11C5-461A-91FA-2D0C4B6529C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dirty="0"/>
            <a:t>Nivel de energía</a:t>
          </a:r>
        </a:p>
      </dgm:t>
    </dgm:pt>
    <dgm:pt modelId="{C97408F1-2711-43E8-92CF-AA0552E00246}" type="parTrans" cxnId="{07C4A0ED-FC61-4D03-A739-E30802D56BFE}">
      <dgm:prSet/>
      <dgm:spPr/>
      <dgm:t>
        <a:bodyPr/>
        <a:lstStyle/>
        <a:p>
          <a:endParaRPr lang="es-CL"/>
        </a:p>
      </dgm:t>
    </dgm:pt>
    <dgm:pt modelId="{03D84DB1-9DCC-4E1F-9D0C-2FE12F1A78E2}" type="sibTrans" cxnId="{07C4A0ED-FC61-4D03-A739-E30802D56BFE}">
      <dgm:prSet/>
      <dgm:spPr/>
      <dgm:t>
        <a:bodyPr/>
        <a:lstStyle/>
        <a:p>
          <a:endParaRPr lang="es-CL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0" presStyleCnt="2">
        <dgm:presLayoutVars>
          <dgm:bulletEnabled val="1"/>
        </dgm:presLayoutVars>
      </dgm:prSet>
      <dgm:spPr/>
    </dgm:pt>
    <dgm:pt modelId="{3E20F600-AFBC-427F-8295-F096F694BC17}" type="pres">
      <dgm:prSet presAssocID="{1A095211-ADB0-42CA-9F24-F1BC942872F3}" presName="space" presStyleCnt="0"/>
      <dgm:spPr/>
    </dgm:pt>
    <dgm:pt modelId="{0770C0F2-F562-4928-938D-1369B5193A94}" type="pres">
      <dgm:prSet presAssocID="{6EE89B4E-BAED-4A90-B29D-70AF11256801}" presName="composite" presStyleCnt="0"/>
      <dgm:spPr/>
    </dgm:pt>
    <dgm:pt modelId="{2FD93DFB-485D-44B3-9E74-DCBAF3F58B47}" type="pres">
      <dgm:prSet presAssocID="{6EE89B4E-BAED-4A90-B29D-70AF11256801}" presName="parTx" presStyleLbl="alignNode1" presStyleIdx="1" presStyleCnt="2" custLinFactNeighborX="1" custLinFactNeighborY="1680">
        <dgm:presLayoutVars>
          <dgm:chMax val="0"/>
          <dgm:chPref val="0"/>
          <dgm:bulletEnabled val="1"/>
        </dgm:presLayoutVars>
      </dgm:prSet>
      <dgm:spPr/>
    </dgm:pt>
    <dgm:pt modelId="{0D7BB284-03F9-49AA-977D-77E819FE6050}" type="pres">
      <dgm:prSet presAssocID="{6EE89B4E-BAED-4A90-B29D-70AF1125680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A0F5406-B9C1-4115-966A-CF2017B5046E}" srcId="{6EE89B4E-BAED-4A90-B29D-70AF11256801}" destId="{D6B2851C-10BC-4917-BBFC-2C8DBAB86710}" srcOrd="1" destOrd="0" parTransId="{8B7F068D-18BF-4E26-9B65-4E6E914436A7}" sibTransId="{36964D3E-CDED-454D-8624-C3B6C5518315}"/>
    <dgm:cxn modelId="{4D1F5913-EDCE-4CBC-8640-DDF1E6E8B008}" type="presOf" srcId="{D6B2851C-10BC-4917-BBFC-2C8DBAB86710}" destId="{0D7BB284-03F9-49AA-977D-77E819FE6050}" srcOrd="0" destOrd="1" presId="urn:microsoft.com/office/officeart/2005/8/layout/hList1"/>
    <dgm:cxn modelId="{CA949A5F-9945-4C59-A233-D70AFFF70BDA}" srcId="{CF9FC193-7A05-4631-B681-B56EAB543D38}" destId="{6EE89B4E-BAED-4A90-B29D-70AF11256801}" srcOrd="1" destOrd="0" parTransId="{39BF20C7-31E5-452B-8EA2-17224A13C7FB}" sibTransId="{E71503C3-CFB7-4144-AD9F-7A42A87A3A6B}"/>
    <dgm:cxn modelId="{B7456A43-A9A3-4A00-8AAC-C251CEB670A4}" type="presOf" srcId="{6EE89B4E-BAED-4A90-B29D-70AF11256801}" destId="{2FD93DFB-485D-44B3-9E74-DCBAF3F58B47}" srcOrd="0" destOrd="0" presId="urn:microsoft.com/office/officeart/2005/8/layout/hList1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B6495F75-5172-4551-884D-66A794D0F090}" type="presOf" srcId="{92ACADFB-9935-4387-90F4-BB624D0B4A70}" destId="{0D7BB284-03F9-49AA-977D-77E819FE6050}" srcOrd="0" destOrd="0" presId="urn:microsoft.com/office/officeart/2005/8/layout/hList1"/>
    <dgm:cxn modelId="{8DB8997D-3BE2-4646-A982-68ECBE18110D}" srcId="{6EE89B4E-BAED-4A90-B29D-70AF11256801}" destId="{92ACADFB-9935-4387-90F4-BB624D0B4A70}" srcOrd="0" destOrd="0" parTransId="{66AADECE-F67D-4685-9343-80ECF871FDAE}" sibTransId="{547F632C-40A9-4FF4-AEB5-D0A14057BC8E}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49DDAFAB-CEC7-49D7-B772-DD7B3717DCA2}" type="presOf" srcId="{4E09554C-A0A9-4473-B51A-ABC0BF09F7CB}" destId="{E4FD5043-5612-43C5-B6AE-CCD431549399}" srcOrd="0" destOrd="2" presId="urn:microsoft.com/office/officeart/2005/8/layout/hList1"/>
    <dgm:cxn modelId="{8DC44CB8-DDB0-489F-9826-C629A921C6C9}" type="presOf" srcId="{424477B2-0ECF-4360-B5B5-6C911EC03F4C}" destId="{E4FD5043-5612-43C5-B6AE-CCD431549399}" srcOrd="0" destOrd="1" presId="urn:microsoft.com/office/officeart/2005/8/layout/hList1"/>
    <dgm:cxn modelId="{B19977CF-FE78-4711-8504-1203BD8FAD36}" type="presOf" srcId="{5323E3A0-11C5-461A-91FA-2D0C4B6529CA}" destId="{0D7BB284-03F9-49AA-977D-77E819FE6050}" srcOrd="0" destOrd="2" presId="urn:microsoft.com/office/officeart/2005/8/layout/hList1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BBECE3DD-711A-4B10-9979-97A7283CDADB}" srcId="{ABA77F75-8642-4931-8D7E-BE6C6DB9940D}" destId="{4E09554C-A0A9-4473-B51A-ABC0BF09F7CB}" srcOrd="2" destOrd="0" parTransId="{DC61C644-5419-4908-BC51-5EE0701AAF10}" sibTransId="{84A4C9B6-B647-45E6-B90F-33C97896F9B4}"/>
    <dgm:cxn modelId="{FA529BE3-C734-4E60-9483-30E35591468D}" srcId="{ABA77F75-8642-4931-8D7E-BE6C6DB9940D}" destId="{424477B2-0ECF-4360-B5B5-6C911EC03F4C}" srcOrd="1" destOrd="0" parTransId="{21A8EA1E-CF76-4472-ADA4-C2228667CA39}" sibTransId="{89BB91B1-1035-4049-90CD-C37F6608CF1F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D959B3EA-A66A-4B40-901C-93ECD4985A93}" srcId="{CF9FC193-7A05-4631-B681-B56EAB543D38}" destId="{ABA77F75-8642-4931-8D7E-BE6C6DB9940D}" srcOrd="0" destOrd="0" parTransId="{FCF9AE1B-B22B-4F91-BFD8-DDBBF762F128}" sibTransId="{1A095211-ADB0-42CA-9F24-F1BC942872F3}"/>
    <dgm:cxn modelId="{07C4A0ED-FC61-4D03-A739-E30802D56BFE}" srcId="{6EE89B4E-BAED-4A90-B29D-70AF11256801}" destId="{5323E3A0-11C5-461A-91FA-2D0C4B6529CA}" srcOrd="2" destOrd="0" parTransId="{C97408F1-2711-43E8-92CF-AA0552E00246}" sibTransId="{03D84DB1-9DCC-4E1F-9D0C-2FE12F1A78E2}"/>
    <dgm:cxn modelId="{A09CCE6C-77C7-4B5A-B9DA-7E705F8B286E}" type="presParOf" srcId="{DE3F77CF-6A8C-4783-A2CE-00E88C4199CB}" destId="{3B158D6E-E3AA-49BB-988A-758B59ED8F3B}" srcOrd="0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1" destOrd="0" presId="urn:microsoft.com/office/officeart/2005/8/layout/hList1"/>
    <dgm:cxn modelId="{0D29F0CB-F497-4CE4-976D-FDE85791710F}" type="presParOf" srcId="{DE3F77CF-6A8C-4783-A2CE-00E88C4199CB}" destId="{0770C0F2-F562-4928-938D-1369B5193A94}" srcOrd="2" destOrd="0" presId="urn:microsoft.com/office/officeart/2005/8/layout/hList1"/>
    <dgm:cxn modelId="{5D1BB204-55D0-469C-84A7-0829289D493D}" type="presParOf" srcId="{0770C0F2-F562-4928-938D-1369B5193A94}" destId="{2FD93DFB-485D-44B3-9E74-DCBAF3F58B47}" srcOrd="0" destOrd="0" presId="urn:microsoft.com/office/officeart/2005/8/layout/hList1"/>
    <dgm:cxn modelId="{7F7575CA-500A-47A6-AAE8-43CE93FEDA12}" type="presParOf" srcId="{0770C0F2-F562-4928-938D-1369B5193A94}" destId="{0D7BB284-03F9-49AA-977D-77E819FE60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6045031" y="-2306065"/>
          <a:ext cx="1382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2400" kern="1200" dirty="0"/>
            <a:t>¿Los estudiantes universitarios duermen menos de 7 horas recomendadas?</a:t>
          </a:r>
          <a:endParaRPr lang="es-ES" sz="2400" kern="1200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3566160" y="240274"/>
        <a:ext cx="6272372" cy="1247161"/>
      </dsp:txXfrm>
    </dsp:sp>
    <dsp:sp modelId="{3230722F-B757-4673-BD2F-9D4BAB5CEE8D}">
      <dsp:nvSpPr>
        <dsp:cNvPr id="0" name=""/>
        <dsp:cNvSpPr/>
      </dsp:nvSpPr>
      <dsp:spPr>
        <a:xfrm>
          <a:off x="0" y="43"/>
          <a:ext cx="3566160" cy="17276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rtlCol="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300" kern="1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¿Cuál es el problema?</a:t>
          </a:r>
        </a:p>
      </dsp:txBody>
      <dsp:txXfrm>
        <a:off x="84336" y="84379"/>
        <a:ext cx="3397488" cy="1558950"/>
      </dsp:txXfrm>
    </dsp:sp>
    <dsp:sp modelId="{329ECF1A-78BE-41CB-B252-8011825B67CD}">
      <dsp:nvSpPr>
        <dsp:cNvPr id="0" name=""/>
        <dsp:cNvSpPr/>
      </dsp:nvSpPr>
      <dsp:spPr>
        <a:xfrm rot="5400000">
          <a:off x="6045031" y="-475131"/>
          <a:ext cx="1382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400" kern="1200" dirty="0"/>
            <a:t>Impacto en salud física</a:t>
          </a:r>
          <a:endParaRPr lang="es-ES" sz="2400" kern="1200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400" kern="1200" dirty="0"/>
            <a:t>Rendimiento académico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400" kern="1200" dirty="0"/>
            <a:t>Bienestar psicológico</a:t>
          </a:r>
        </a:p>
      </dsp:txBody>
      <dsp:txXfrm rot="-5400000">
        <a:off x="3566160" y="2071208"/>
        <a:ext cx="6272372" cy="1247161"/>
      </dsp:txXfrm>
    </dsp:sp>
    <dsp:sp modelId="{8A3FE5E4-2689-4041-B2C5-C63BC276A3EF}">
      <dsp:nvSpPr>
        <dsp:cNvPr id="0" name=""/>
        <dsp:cNvSpPr/>
      </dsp:nvSpPr>
      <dsp:spPr>
        <a:xfrm>
          <a:off x="0" y="1814046"/>
          <a:ext cx="3566160" cy="17276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rtlCol="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300" kern="1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Importancia </a:t>
          </a:r>
        </a:p>
      </dsp:txBody>
      <dsp:txXfrm>
        <a:off x="84336" y="1898382"/>
        <a:ext cx="3397488" cy="1558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A5EAB-EAE0-4501-8649-31F112FF9AD5}">
      <dsp:nvSpPr>
        <dsp:cNvPr id="0" name=""/>
        <dsp:cNvSpPr/>
      </dsp:nvSpPr>
      <dsp:spPr>
        <a:xfrm>
          <a:off x="55" y="192642"/>
          <a:ext cx="5287072" cy="118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rtlCol="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Metodología</a:t>
          </a:r>
        </a:p>
      </dsp:txBody>
      <dsp:txXfrm>
        <a:off x="55" y="192642"/>
        <a:ext cx="5287072" cy="1180800"/>
      </dsp:txXfrm>
    </dsp:sp>
    <dsp:sp modelId="{E4FD5043-5612-43C5-B6AE-CCD431549399}">
      <dsp:nvSpPr>
        <dsp:cNvPr id="0" name=""/>
        <dsp:cNvSpPr/>
      </dsp:nvSpPr>
      <dsp:spPr>
        <a:xfrm>
          <a:off x="55" y="1373443"/>
          <a:ext cx="5287072" cy="29261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694" tIns="218694" rIns="291592" bIns="328041" numCol="1" spcCol="1270" rtlCol="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4100" kern="1200" dirty="0"/>
            <a:t>Enfoque: Cuantitativo</a:t>
          </a:r>
          <a:endParaRPr lang="es-ES" sz="4100" kern="1200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4100" kern="1200" dirty="0"/>
            <a:t>Muestreo: Aleatorio simple</a:t>
          </a:r>
          <a:endParaRPr lang="es-ES" sz="4100" kern="1200" noProof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4100" kern="1200" dirty="0"/>
            <a:t>n = 120 estudiantes</a:t>
          </a:r>
        </a:p>
      </dsp:txBody>
      <dsp:txXfrm>
        <a:off x="55" y="1373443"/>
        <a:ext cx="5287072" cy="2926170"/>
      </dsp:txXfrm>
    </dsp:sp>
    <dsp:sp modelId="{2FD93DFB-485D-44B3-9E74-DCBAF3F58B47}">
      <dsp:nvSpPr>
        <dsp:cNvPr id="0" name=""/>
        <dsp:cNvSpPr/>
      </dsp:nvSpPr>
      <dsp:spPr>
        <a:xfrm>
          <a:off x="6027370" y="212480"/>
          <a:ext cx="5287072" cy="118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rtlCol="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ES" sz="4100" kern="1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variables</a:t>
          </a:r>
        </a:p>
      </dsp:txBody>
      <dsp:txXfrm>
        <a:off x="6027370" y="212480"/>
        <a:ext cx="5287072" cy="1180800"/>
      </dsp:txXfrm>
    </dsp:sp>
    <dsp:sp modelId="{0D7BB284-03F9-49AA-977D-77E819FE6050}">
      <dsp:nvSpPr>
        <dsp:cNvPr id="0" name=""/>
        <dsp:cNvSpPr/>
      </dsp:nvSpPr>
      <dsp:spPr>
        <a:xfrm>
          <a:off x="6027318" y="1373443"/>
          <a:ext cx="5287072" cy="29261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694" tIns="218694" rIns="291592" bIns="328041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4100" kern="1200" dirty="0"/>
            <a:t>Horas de sueño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4100" kern="1200" dirty="0"/>
            <a:t>Actividad física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4100" kern="1200" dirty="0"/>
            <a:t>Nivel de energía</a:t>
          </a:r>
        </a:p>
      </dsp:txBody>
      <dsp:txXfrm>
        <a:off x="6027318" y="1373443"/>
        <a:ext cx="5287072" cy="2926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EEE251C-9278-446E-94B4-A45D94CF9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8055FC-3474-47B3-9B4F-67BB1FF9F3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CEC8C-C875-46FC-B5E4-D61A1C548497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5F96C8D-3E0E-4E49-B6AF-3B70D36C8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CB9B36-4822-46B1-ACA8-0730FA8C1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9A7F6-A9F7-4200-B15A-0DDF77E808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8754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451A8-9F55-443A-B22B-91AD4434529B}" type="datetimeFigureOut">
              <a:rPr lang="es-ES" smtClean="0"/>
              <a:t>20/02/2026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estilos de texto del patrón</a:t>
            </a:r>
            <a:endParaRPr lang="es-ES" dirty="0"/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58500-FC51-4538-819A-391D99492B7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1534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3595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0510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268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530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950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1392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7976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960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n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ángulo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orma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orma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Rectángulo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orma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orma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orma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orma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orma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orma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orma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orma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orma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orma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orma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orma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Forma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orma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orma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Forma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orma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Forma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Forma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Forma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Forma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orma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orma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Forma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Rectángulo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orma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orma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orma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orma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orma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orma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orma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orma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orma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orma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orma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Rectángulo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orma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orma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orma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orma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orma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orma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orma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Forma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Forma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Forma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Forma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Forma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5" name="Forma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B4B42CC5-A37F-479C-BB89-93782537C5C2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F887F4-C29B-48B9-BDC1-98C5FCB6A07F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DD4354-610D-40D5-AEB6-3A793CD516D2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E701CA-C3B4-4331-83CC-2F0A47CA6E57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550BC4-1DD7-42C5-AEE4-96F7F79285D7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AB6CF5-77ED-4FF9-AAF8-52C3AF46E3D9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74DD3-B4C2-4A96-8300-79DD1DCFF12A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4D0B20-C8B4-43BB-AD01-62F210BF3AA3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1807E4-B9D9-419C-89FE-7ED2FA492EAC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C4A89A-6E40-4DEC-A31D-8D0BA4D0C19B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CCAC9A-50FA-453B-A5A1-664F834320F1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A96A25-A1A1-4951-AA35-C0B05EF039E3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60" name="Cuadro de texto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Cuadro de texto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5C997B-94A4-4371-AF12-483312E12549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7A9720-1EE6-4D5E-A5BF-D4060F8DE7CF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BAA0C9-03DE-4F7E-9E82-3790C686D72B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CACA7D-22A4-4E66-8FBE-CC5DD02FB4DF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958C13-3C2F-4635-87DB-06CB8F496D80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o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ángulo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Forma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Forma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Forma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Forma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Forma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Forma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Forma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Forma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Forma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Forma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Línea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Forma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4" name="Forma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Forma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Forma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Rectángulo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Forma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Forma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Forma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1" name="Forma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Forma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Forma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Forma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5" name="Forma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6" name="Forma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Forma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0" name="Grupo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a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orma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orma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Forma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Forma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Forma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Forma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Forma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Forma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Rectángulo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4295C3A-E926-46B8-ADEB-3C84EE47C3D7}" type="datetime1">
              <a:rPr lang="es-ES" noProof="0" smtClean="0"/>
              <a:t>20/02/2026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s-CL" sz="5400" dirty="0"/>
              <a:t>Análisis Estadístico sobre Hábitos Saludables en Jóvenes Universitarios</a:t>
            </a:r>
            <a:endParaRPr lang="es-ES" sz="5400" dirty="0">
              <a:latin typeface="Rockwell" panose="02060603020205020403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algn="ctr"/>
            <a:r>
              <a:rPr lang="es-CL" sz="2400" dirty="0"/>
              <a:t>Proyecto Final – Inferencia Estadística</a:t>
            </a:r>
          </a:p>
          <a:p>
            <a:pPr algn="ctr"/>
            <a:endParaRPr lang="es-CL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C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Katherine norambuena velasquez </a:t>
            </a:r>
          </a:p>
          <a:p>
            <a:pPr algn="ctr"/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400" dirty="0">
                <a:latin typeface="Rockwell" panose="02060603020205020403" pitchFamily="18" charset="0"/>
              </a:rPr>
              <a:t>Contexto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853392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400" dirty="0">
                <a:latin typeface="Rockwell" panose="02060603020205020403" pitchFamily="18" charset="0"/>
              </a:rPr>
              <a:t>Objetivo General y específicos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r>
              <a:rPr lang="es-CL" sz="2600" b="1" dirty="0"/>
              <a:t>Objetivo general:</a:t>
            </a:r>
            <a:br>
              <a:rPr lang="es-CL" sz="2600" dirty="0"/>
            </a:br>
            <a:r>
              <a:rPr lang="es-CL" sz="2600" dirty="0"/>
              <a:t>Aplicar inferencia estadística para analizar hábitos saludables.</a:t>
            </a:r>
          </a:p>
          <a:p>
            <a:r>
              <a:rPr lang="es-CL" sz="2600" b="1" dirty="0"/>
              <a:t>Objetivos específicos:</a:t>
            </a:r>
            <a:endParaRPr lang="es-CL" sz="2600" dirty="0"/>
          </a:p>
          <a:p>
            <a:r>
              <a:rPr lang="es-CL" sz="2600" dirty="0"/>
              <a:t>Formular hipótesis</a:t>
            </a:r>
          </a:p>
          <a:p>
            <a:r>
              <a:rPr lang="es-CL" sz="2600" dirty="0"/>
              <a:t>Simular datos</a:t>
            </a:r>
          </a:p>
          <a:p>
            <a:r>
              <a:rPr lang="es-CL" sz="2600" dirty="0"/>
              <a:t>Aplicar distribuciones</a:t>
            </a:r>
          </a:p>
          <a:p>
            <a:r>
              <a:rPr lang="es-CL" sz="2600" dirty="0"/>
              <a:t>Validar hipótesis</a:t>
            </a:r>
          </a:p>
          <a:p>
            <a:pPr marL="0" indent="0" rtl="0">
              <a:buNone/>
            </a:pPr>
            <a:endParaRPr lang="es-E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400" dirty="0">
                <a:latin typeface="Rockwell" panose="02060603020205020403" pitchFamily="18" charset="0"/>
              </a:rPr>
              <a:t>Metodología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201198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400" dirty="0">
                <a:latin typeface="Rockwell" panose="02060603020205020403" pitchFamily="18" charset="0"/>
              </a:rPr>
              <a:t>Probabilidad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8561390" cy="3989996"/>
          </a:xfrm>
        </p:spPr>
        <p:txBody>
          <a:bodyPr rtlCol="0">
            <a:normAutofit/>
          </a:bodyPr>
          <a:lstStyle/>
          <a:p>
            <a:r>
              <a:rPr lang="es-CL" dirty="0"/>
              <a:t>Eventos:</a:t>
            </a:r>
          </a:p>
          <a:p>
            <a:r>
              <a:rPr lang="es-CL" dirty="0"/>
              <a:t>A = Duerme &lt; 7 horas</a:t>
            </a:r>
            <a:br>
              <a:rPr lang="es-CL" dirty="0"/>
            </a:br>
            <a:r>
              <a:rPr lang="es-CL" dirty="0"/>
              <a:t>B = Actividad física &gt; 3 horas</a:t>
            </a:r>
          </a:p>
          <a:p>
            <a:r>
              <a:rPr lang="es-CL" dirty="0"/>
              <a:t>Resultados:</a:t>
            </a:r>
          </a:p>
          <a:p>
            <a:r>
              <a:rPr lang="es-CL" dirty="0"/>
              <a:t>P(A) = 0.667</a:t>
            </a:r>
            <a:br>
              <a:rPr lang="es-CL" dirty="0"/>
            </a:br>
            <a:r>
              <a:rPr lang="es-CL" dirty="0"/>
              <a:t>P(A ∩ B) = 0.425</a:t>
            </a:r>
          </a:p>
          <a:p>
            <a:r>
              <a:rPr lang="es-CL" dirty="0"/>
              <a:t>Interpretación breve.</a:t>
            </a:r>
          </a:p>
        </p:txBody>
      </p:sp>
      <p:sp>
        <p:nvSpPr>
          <p:cNvPr id="7" name="Rectángulo: una sola esquina cortada 6">
            <a:extLst>
              <a:ext uri="{FF2B5EF4-FFF2-40B4-BE49-F238E27FC236}">
                <a16:creationId xmlns:a16="http://schemas.microsoft.com/office/drawing/2014/main" id="{1D46011D-D76D-F27E-0811-776766A14DF2}"/>
              </a:ext>
            </a:extLst>
          </p:cNvPr>
          <p:cNvSpPr/>
          <p:nvPr/>
        </p:nvSpPr>
        <p:spPr>
          <a:xfrm>
            <a:off x="7433733" y="2404533"/>
            <a:ext cx="3613678" cy="1828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/>
              <a:t>El 66.7% de los estudiantes duerme menos de lo recomendado.</a:t>
            </a: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400" dirty="0">
                <a:latin typeface="Rockwell" panose="02060603020205020403" pitchFamily="18" charset="0"/>
              </a:rPr>
              <a:t>distribuciones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327121" cy="3541714"/>
          </a:xfrm>
        </p:spPr>
        <p:txBody>
          <a:bodyPr rtlCol="0">
            <a:normAutofit/>
          </a:bodyPr>
          <a:lstStyle/>
          <a:p>
            <a:r>
              <a:rPr lang="es-CL" dirty="0"/>
              <a:t>Horas de sueño → Distribución Normal</a:t>
            </a:r>
            <a:br>
              <a:rPr lang="es-CL" dirty="0"/>
            </a:br>
            <a:r>
              <a:rPr lang="es-CL" dirty="0"/>
              <a:t>Actividad física → Distribución Binomial</a:t>
            </a:r>
          </a:p>
          <a:p>
            <a:r>
              <a:rPr lang="es-CL" dirty="0"/>
              <a:t>Mostrar gráfico si puedes.</a:t>
            </a:r>
          </a:p>
          <a:p>
            <a:pPr lvl="1" rtl="0"/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C33D66-6505-12D1-4D4C-FA7B0F9C2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533" y="1109132"/>
            <a:ext cx="5281930" cy="41636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2282B81-D62A-6202-DBFC-E3498485127B}"/>
              </a:ext>
            </a:extLst>
          </p:cNvPr>
          <p:cNvSpPr/>
          <p:nvPr/>
        </p:nvSpPr>
        <p:spPr>
          <a:xfrm>
            <a:off x="441537" y="4181795"/>
            <a:ext cx="5522602" cy="218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/>
              <a:t>La variable horas de sueño se ajusta a una distribución normal, lo que permite aplicar inferencia paramétrica.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s-CL" sz="4400" dirty="0"/>
              <a:t>TEOREMA DEL LÍMITE CENTRAL</a:t>
            </a:r>
            <a:endParaRPr lang="es-ES" sz="4400" dirty="0">
              <a:latin typeface="Rockwell" panose="02060603020205020403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9D8FB7-EF9C-3E03-37A4-556D94B5F4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097088"/>
            <a:ext cx="61737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Simulación con n = 30, 50 y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Disminución del error estándar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Distribución de medias ≈ Normal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28E258-273B-5A95-0C5E-A670606474EF}"/>
              </a:ext>
            </a:extLst>
          </p:cNvPr>
          <p:cNvSpPr/>
          <p:nvPr/>
        </p:nvSpPr>
        <p:spPr>
          <a:xfrm>
            <a:off x="4228307" y="3556000"/>
            <a:ext cx="6173788" cy="1204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/>
              <a:t>A mayor tamaño muestral, menor dispersión y mayor precisión.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s-CL" sz="4400" dirty="0"/>
              <a:t>INTERVALO DE CONFIANZA</a:t>
            </a:r>
            <a:endParaRPr lang="es-ES" sz="4400" dirty="0">
              <a:latin typeface="Rockwell" panose="020606030202050204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IC 95%:</a:t>
            </a:r>
          </a:p>
          <a:p>
            <a:r>
              <a:rPr lang="es-CL" dirty="0"/>
              <a:t>(6.173 , 6.621)</a:t>
            </a:r>
          </a:p>
          <a:p>
            <a:r>
              <a:rPr lang="es-CL" dirty="0"/>
              <a:t>El valor 7 no pertenece al intervalo.</a:t>
            </a:r>
          </a:p>
          <a:p>
            <a:pPr marL="0" lvl="0" indent="0" rtl="0">
              <a:buNone/>
            </a:pPr>
            <a:endParaRPr lang="es-E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B573E1D-F1B0-EFBC-68F2-DC1664D12DFC}"/>
              </a:ext>
            </a:extLst>
          </p:cNvPr>
          <p:cNvSpPr/>
          <p:nvPr/>
        </p:nvSpPr>
        <p:spPr>
          <a:xfrm>
            <a:off x="3911600" y="4775200"/>
            <a:ext cx="5571067" cy="1016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/>
              <a:t>Con 95% de confianza, la media está por debajo de 7 horas.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208BF-0E31-2E3C-D405-2626B900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TEST DE HIPÓTESIS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8E630D-68EA-69DF-2E71-2A5E45120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H₀: μ = 7</a:t>
            </a:r>
            <a:br>
              <a:rPr lang="es-CL" dirty="0"/>
            </a:br>
            <a:r>
              <a:rPr lang="es-CL" dirty="0"/>
              <a:t>H₁: μ &lt; 7</a:t>
            </a:r>
          </a:p>
          <a:p>
            <a:r>
              <a:rPr lang="es-CL" dirty="0"/>
              <a:t>Z = -5.276</a:t>
            </a:r>
            <a:br>
              <a:rPr lang="es-CL" dirty="0"/>
            </a:br>
            <a:r>
              <a:rPr lang="es-CL" dirty="0"/>
              <a:t>p ≈ 0.000</a:t>
            </a:r>
          </a:p>
          <a:p>
            <a:r>
              <a:rPr lang="es-CL" dirty="0"/>
              <a:t>Decisión: Rechazar H₀</a:t>
            </a:r>
          </a:p>
          <a:p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BD21CC-FD1E-7184-1429-3AD092A9D1E7}"/>
              </a:ext>
            </a:extLst>
          </p:cNvPr>
          <p:cNvSpPr/>
          <p:nvPr/>
        </p:nvSpPr>
        <p:spPr>
          <a:xfrm>
            <a:off x="6094411" y="2249487"/>
            <a:ext cx="3793067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/>
              <a:t>Existe evidencia estadísticamente significativa de déficit de sueño.</a:t>
            </a:r>
          </a:p>
        </p:txBody>
      </p:sp>
    </p:spTree>
    <p:extLst>
      <p:ext uri="{BB962C8B-B14F-4D97-AF65-F5344CB8AC3E}">
        <p14:creationId xmlns:p14="http://schemas.microsoft.com/office/powerpoint/2010/main" val="201026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053A6-5D91-F4D0-3A9F-398171CD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2062C1-88BE-CED3-06B4-1BB742C9F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7733" y="2649713"/>
            <a:ext cx="70273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Programas de higiene del sueño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Educación nutricional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Promoción de actividad física equilibrada</a:t>
            </a:r>
          </a:p>
        </p:txBody>
      </p:sp>
    </p:spTree>
    <p:extLst>
      <p:ext uri="{BB962C8B-B14F-4D97-AF65-F5344CB8AC3E}">
        <p14:creationId xmlns:p14="http://schemas.microsoft.com/office/powerpoint/2010/main" val="669613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BAA8A-1AF4-67E4-E46B-B04AD98E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880" y="4817985"/>
            <a:ext cx="9905998" cy="1478570"/>
          </a:xfrm>
        </p:spPr>
        <p:txBody>
          <a:bodyPr/>
          <a:lstStyle/>
          <a:p>
            <a:r>
              <a:rPr lang="es-CL" dirty="0"/>
              <a:t>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3966034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9_TF77815013" id="{8FD947F4-9C84-4D31-9A71-50EF00CCFDB1}" vid="{F3634BA7-4789-48F2-AC63-487E7207BC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Ciclo problema - solución </Template>
  <TotalTime>18</TotalTime>
  <Words>308</Words>
  <Application>Microsoft Office PowerPoint</Application>
  <PresentationFormat>Panorámica</PresentationFormat>
  <Paragraphs>66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Rockwell</vt:lpstr>
      <vt:lpstr>Tahoma</vt:lpstr>
      <vt:lpstr>Tw Cen MT</vt:lpstr>
      <vt:lpstr>Wingdings</vt:lpstr>
      <vt:lpstr>Circuito</vt:lpstr>
      <vt:lpstr>Análisis Estadístico sobre Hábitos Saludables en Jóvenes Universitarios</vt:lpstr>
      <vt:lpstr>Contexto</vt:lpstr>
      <vt:lpstr>Objetivo General y específicos </vt:lpstr>
      <vt:lpstr>Metodología </vt:lpstr>
      <vt:lpstr>Probabilidad</vt:lpstr>
      <vt:lpstr>distribuciones</vt:lpstr>
      <vt:lpstr>TEOREMA DEL LÍMITE CENTRAL</vt:lpstr>
      <vt:lpstr>INTERVALO DE CONFIANZA</vt:lpstr>
      <vt:lpstr>TEST DE HIPÓTESIS</vt:lpstr>
      <vt:lpstr>CONCLUSIONES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elizabeth norambuena velasquez</dc:creator>
  <cp:lastModifiedBy>katherine elizabeth norambuena velasquez</cp:lastModifiedBy>
  <cp:revision>1</cp:revision>
  <dcterms:created xsi:type="dcterms:W3CDTF">2026-02-21T04:49:10Z</dcterms:created>
  <dcterms:modified xsi:type="dcterms:W3CDTF">2026-02-21T05:07:30Z</dcterms:modified>
</cp:coreProperties>
</file>